
<file path=[Content_Types].xml><?xml version="1.0" encoding="utf-8"?>
<Types xmlns="http://schemas.openxmlformats.org/package/2006/content-types">
  <Default Extension="jpeg" ContentType="image/jpeg"/>
  <Default Extension="jpg&amp;ehk=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4" r:id="rId5"/>
    <p:sldId id="272" r:id="rId6"/>
    <p:sldId id="270" r:id="rId7"/>
    <p:sldId id="271" r:id="rId8"/>
    <p:sldId id="262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174"/>
    <p:restoredTop sz="94668"/>
  </p:normalViewPr>
  <p:slideViewPr>
    <p:cSldViewPr snapToGrid="0" snapToObjects="1">
      <p:cViewPr varScale="1">
        <p:scale>
          <a:sx n="100" d="100"/>
          <a:sy n="100" d="100"/>
        </p:scale>
        <p:origin x="168" y="5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4" d="100"/>
          <a:sy n="84" d="100"/>
        </p:scale>
        <p:origin x="3960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D53B61-DE9A-BF47-AA1A-3158326E3E6A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7C96CF-CCBF-124A-8725-3B27E5EA5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6679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7C96CF-CCBF-124A-8725-3B27E5EA5D58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84967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7C96CF-CCBF-124A-8725-3B27E5EA5D58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3874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&amp;ehk=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eg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&amp;ehk=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e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E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C88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01168"/>
            <a:ext cx="1234440" cy="1143000"/>
          </a:xfrm>
          <a:prstGeom prst="rect">
            <a:avLst/>
          </a:prstGeom>
          <a:solidFill>
            <a:srgbClr val="2A1A08"/>
          </a:solidFill>
          <a:ln w="19050">
            <a:solidFill>
              <a:srgbClr val="C88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13961"/>
            <a:ext cx="1234440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 i="0" dirty="0">
                <a:solidFill>
                  <a:srgbClr val="E8B84B"/>
                </a:solidFill>
                <a:latin typeface="Cambria"/>
              </a:rPr>
              <a:t>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44172"/>
            <a:ext cx="123444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 dirty="0">
                <a:solidFill>
                  <a:srgbClr val="8B3A0F"/>
                </a:solidFill>
                <a:latin typeface="Calibri"/>
              </a:rPr>
              <a:t>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69158"/>
            <a:ext cx="10058400" cy="1261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800" b="1" i="0" dirty="0">
                <a:solidFill>
                  <a:srgbClr val="E8B84B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SEMINÁRIO INTERNACIONAL</a:t>
            </a:r>
          </a:p>
          <a:p>
            <a:pPr algn="l"/>
            <a:r>
              <a:rPr sz="3800" b="1" i="0" dirty="0">
                <a:solidFill>
                  <a:srgbClr val="E8B84B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PACHAMAMA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28800" y="1508760"/>
            <a:ext cx="10058400" cy="0"/>
          </a:xfrm>
          <a:prstGeom prst="line">
            <a:avLst/>
          </a:prstGeom>
          <a:ln w="10160">
            <a:solidFill>
              <a:srgbClr val="C886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828800" y="1600200"/>
            <a:ext cx="10058400" cy="892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pt-BR" sz="2600" i="1" dirty="0">
                <a:solidFill>
                  <a:srgbClr val="F5E6C8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PROTAGONISMO INDÍGENA, DESAFIOS CONTEMPORÂNEOS E LUTAS POR DIREITOS NO BRASIL E NA AMÉRICA LATINA</a:t>
            </a:r>
            <a:endParaRPr sz="2600" b="0" i="1" dirty="0">
              <a:solidFill>
                <a:srgbClr val="F5E6C8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0040" y="2962311"/>
            <a:ext cx="3840480" cy="658368"/>
          </a:xfrm>
          <a:prstGeom prst="rect">
            <a:avLst/>
          </a:prstGeom>
          <a:solidFill>
            <a:srgbClr val="2A1A08"/>
          </a:solidFill>
          <a:ln w="10160">
            <a:solidFill>
              <a:srgbClr val="C88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-229011" y="3076051"/>
            <a:ext cx="4701589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0" i="0" dirty="0">
                <a:solidFill>
                  <a:srgbClr val="F5E6C8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📅  05 e 06 de </a:t>
            </a:r>
            <a:r>
              <a:rPr lang="pt-BR" sz="2100" b="0" i="0" dirty="0">
                <a:solidFill>
                  <a:srgbClr val="F5E6C8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N</a:t>
            </a:r>
            <a:r>
              <a:rPr sz="2100" b="0" i="0" dirty="0" err="1">
                <a:solidFill>
                  <a:srgbClr val="F5E6C8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ovembro</a:t>
            </a:r>
            <a:endParaRPr sz="2100" b="0" i="0" dirty="0">
              <a:solidFill>
                <a:srgbClr val="F5E6C8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297680" y="2956559"/>
            <a:ext cx="3611880" cy="658368"/>
          </a:xfrm>
          <a:prstGeom prst="rect">
            <a:avLst/>
          </a:prstGeom>
          <a:solidFill>
            <a:srgbClr val="2A1A08"/>
          </a:solidFill>
          <a:ln w="10160">
            <a:solidFill>
              <a:srgbClr val="C88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70588" y="3059415"/>
            <a:ext cx="3986443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100" b="0" i="0" dirty="0">
                <a:solidFill>
                  <a:srgbClr val="F5E6C8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🏛️  </a:t>
            </a:r>
            <a:r>
              <a:rPr sz="2100" b="0" i="0" dirty="0" err="1">
                <a:solidFill>
                  <a:srgbClr val="F5E6C8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Auditório</a:t>
            </a:r>
            <a:r>
              <a:rPr sz="2100" b="0" i="0" dirty="0">
                <a:solidFill>
                  <a:srgbClr val="F5E6C8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I · UEMASUL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9560" y="2950643"/>
            <a:ext cx="4114800" cy="669641"/>
          </a:xfrm>
          <a:prstGeom prst="rect">
            <a:avLst/>
          </a:prstGeom>
          <a:solidFill>
            <a:srgbClr val="2A1A08"/>
          </a:solidFill>
          <a:ln w="10160">
            <a:solidFill>
              <a:srgbClr val="C88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202971" y="3769801"/>
            <a:ext cx="11548872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 dirty="0" err="1">
                <a:solidFill>
                  <a:srgbClr val="C8860A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Comissão</a:t>
            </a:r>
            <a:r>
              <a:rPr sz="2400" b="1" i="0" dirty="0">
                <a:solidFill>
                  <a:srgbClr val="C8860A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</a:t>
            </a:r>
            <a:r>
              <a:rPr sz="2400" b="1" i="0" dirty="0" err="1">
                <a:solidFill>
                  <a:srgbClr val="C8860A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Organizadora</a:t>
            </a:r>
            <a:endParaRPr sz="2400" b="1" i="0" dirty="0">
              <a:solidFill>
                <a:srgbClr val="C8860A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48070" y="4276708"/>
            <a:ext cx="11821531" cy="1845340"/>
          </a:xfrm>
          <a:prstGeom prst="rect">
            <a:avLst/>
          </a:prstGeom>
          <a:solidFill>
            <a:srgbClr val="2A1A08"/>
          </a:solidFill>
          <a:ln w="6350">
            <a:solidFill>
              <a:srgbClr val="C88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ED838C1A-3013-CD4D-B8D2-54507C5BFE1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123247" y="4908417"/>
            <a:ext cx="1080000" cy="10800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87150A20-260E-4838-9289-C99D63A97AAC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5699086" y="4899982"/>
            <a:ext cx="1080000" cy="10800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2119B2EE-A005-53A5-9B8E-E2488A72B900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748800" y="4944489"/>
            <a:ext cx="1080000" cy="10800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6" name="CaixaDeTexto 25">
            <a:extLst>
              <a:ext uri="{FF2B5EF4-FFF2-40B4-BE49-F238E27FC236}">
                <a16:creationId xmlns:a16="http://schemas.microsoft.com/office/drawing/2014/main" id="{FC72E6DE-F258-4B63-570A-86A023C27C04}"/>
              </a:ext>
            </a:extLst>
          </p:cNvPr>
          <p:cNvSpPr txBox="1"/>
          <p:nvPr/>
        </p:nvSpPr>
        <p:spPr>
          <a:xfrm>
            <a:off x="202971" y="6132595"/>
            <a:ext cx="3057377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700" b="1" i="0" dirty="0">
                <a:solidFill>
                  <a:srgbClr val="C0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Dr. Raimundo Moura Filho (UEMASUL/UNITINS)</a:t>
            </a:r>
            <a:endParaRPr lang="pt-BR" sz="1700" b="1" dirty="0">
              <a:solidFill>
                <a:srgbClr val="C00000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pic>
        <p:nvPicPr>
          <p:cNvPr id="27" name="Imagem 26" descr="UEMASUL - Encerrada a votação para reitor e vice-reitor da UEMASUL ...">
            <a:extLst>
              <a:ext uri="{FF2B5EF4-FFF2-40B4-BE49-F238E27FC236}">
                <a16:creationId xmlns:a16="http://schemas.microsoft.com/office/drawing/2014/main" id="{0014115A-4D67-4DD4-1282-649E0B66AEE0}"/>
              </a:ext>
            </a:extLst>
          </p:cNvPr>
          <p:cNvPicPr>
            <a:picLocks/>
          </p:cNvPicPr>
          <p:nvPr/>
        </p:nvPicPr>
        <p:blipFill>
          <a:blip r:embed="rId6"/>
          <a:srcRect l="67542" t="-504" b="4137"/>
          <a:stretch>
            <a:fillRect/>
          </a:stretch>
        </p:blipFill>
        <p:spPr>
          <a:xfrm>
            <a:off x="3627697" y="4937149"/>
            <a:ext cx="1080000" cy="10800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8" name="CaixaDeTexto 27">
            <a:extLst>
              <a:ext uri="{FF2B5EF4-FFF2-40B4-BE49-F238E27FC236}">
                <a16:creationId xmlns:a16="http://schemas.microsoft.com/office/drawing/2014/main" id="{EE2DEACE-5343-95F6-6F52-53A27019CAAE}"/>
              </a:ext>
            </a:extLst>
          </p:cNvPr>
          <p:cNvSpPr txBox="1"/>
          <p:nvPr/>
        </p:nvSpPr>
        <p:spPr>
          <a:xfrm>
            <a:off x="3244031" y="6143259"/>
            <a:ext cx="238258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700" b="1" dirty="0">
                <a:solidFill>
                  <a:srgbClr val="C0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Dra. Regina Costa Lima (UEMASUL)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65FE0A53-6A16-4E86-1425-9308097A179A}"/>
              </a:ext>
            </a:extLst>
          </p:cNvPr>
          <p:cNvSpPr txBox="1"/>
          <p:nvPr/>
        </p:nvSpPr>
        <p:spPr>
          <a:xfrm>
            <a:off x="5468801" y="6131636"/>
            <a:ext cx="2588506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700" b="1" dirty="0" err="1">
                <a:solidFill>
                  <a:srgbClr val="C0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Dra</a:t>
            </a:r>
            <a:r>
              <a:rPr lang="pt-BR" sz="1700" b="1" dirty="0">
                <a:solidFill>
                  <a:srgbClr val="C0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</a:t>
            </a:r>
            <a:r>
              <a:rPr lang="pt-BR" sz="1700" b="1" dirty="0" err="1">
                <a:solidFill>
                  <a:srgbClr val="C0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Shyrley</a:t>
            </a:r>
            <a:r>
              <a:rPr lang="pt-BR" sz="1700" b="1" dirty="0">
                <a:solidFill>
                  <a:srgbClr val="C0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 </a:t>
            </a:r>
            <a:r>
              <a:rPr lang="pt-BR" sz="1700" b="1" dirty="0" err="1">
                <a:solidFill>
                  <a:srgbClr val="C0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Aymara</a:t>
            </a:r>
            <a:r>
              <a:rPr lang="pt-BR" sz="1700" b="1" dirty="0">
                <a:solidFill>
                  <a:srgbClr val="C0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(PUCP · Peru)</a:t>
            </a:r>
          </a:p>
        </p:txBody>
      </p:sp>
      <p:pic>
        <p:nvPicPr>
          <p:cNvPr id="30" name="Imagem 29" descr="Artigos científicos de Fernanda Miler Lima Pinto - Revista Científica">
            <a:extLst>
              <a:ext uri="{FF2B5EF4-FFF2-40B4-BE49-F238E27FC236}">
                <a16:creationId xmlns:a16="http://schemas.microsoft.com/office/drawing/2014/main" id="{F456A2FF-51D2-F423-9389-CAF95C27150B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7818612" y="4928112"/>
            <a:ext cx="1080000" cy="10800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1" name="CaixaDeTexto 30">
            <a:extLst>
              <a:ext uri="{FF2B5EF4-FFF2-40B4-BE49-F238E27FC236}">
                <a16:creationId xmlns:a16="http://schemas.microsoft.com/office/drawing/2014/main" id="{CB552041-E7BA-CCD8-2FF1-059A5C7726AF}"/>
              </a:ext>
            </a:extLst>
          </p:cNvPr>
          <p:cNvSpPr txBox="1"/>
          <p:nvPr/>
        </p:nvSpPr>
        <p:spPr>
          <a:xfrm>
            <a:off x="9889397" y="6120178"/>
            <a:ext cx="251281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700" b="1" dirty="0">
                <a:solidFill>
                  <a:srgbClr val="C0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Dr. </a:t>
            </a:r>
            <a:r>
              <a:rPr lang="pt-BR" sz="1700" b="1" dirty="0" err="1">
                <a:solidFill>
                  <a:srgbClr val="C0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Luis</a:t>
            </a:r>
            <a:r>
              <a:rPr lang="pt-BR" sz="1700" b="1" dirty="0">
                <a:solidFill>
                  <a:srgbClr val="C0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Pérez (ENES-UNAM · México)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061457BF-2F2F-4832-FB0D-F767BFBFF4EA}"/>
              </a:ext>
            </a:extLst>
          </p:cNvPr>
          <p:cNvSpPr txBox="1"/>
          <p:nvPr/>
        </p:nvSpPr>
        <p:spPr>
          <a:xfrm>
            <a:off x="7671293" y="6145993"/>
            <a:ext cx="2402897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700" b="1" dirty="0" err="1">
                <a:solidFill>
                  <a:srgbClr val="C0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Dra.Fernada</a:t>
            </a:r>
            <a:r>
              <a:rPr lang="pt-BR" sz="1700" b="1" dirty="0">
                <a:solidFill>
                  <a:srgbClr val="C0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</a:t>
            </a:r>
            <a:r>
              <a:rPr lang="pt-BR" sz="1700" b="1" dirty="0" err="1">
                <a:solidFill>
                  <a:srgbClr val="C0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Miler</a:t>
            </a:r>
            <a:r>
              <a:rPr lang="pt-BR" sz="1700" b="1" dirty="0">
                <a:solidFill>
                  <a:srgbClr val="C0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(UNITINS)</a:t>
            </a:r>
          </a:p>
        </p:txBody>
      </p:sp>
      <p:sp>
        <p:nvSpPr>
          <p:cNvPr id="9" name="TextBox 15">
            <a:extLst>
              <a:ext uri="{FF2B5EF4-FFF2-40B4-BE49-F238E27FC236}">
                <a16:creationId xmlns:a16="http://schemas.microsoft.com/office/drawing/2014/main" id="{3E23085B-D43A-EB2F-5CFA-796E0AACD2CC}"/>
              </a:ext>
            </a:extLst>
          </p:cNvPr>
          <p:cNvSpPr txBox="1"/>
          <p:nvPr/>
        </p:nvSpPr>
        <p:spPr>
          <a:xfrm>
            <a:off x="148070" y="4324793"/>
            <a:ext cx="2690222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pt-BR" sz="2000" b="1" i="0" dirty="0">
                <a:solidFill>
                  <a:srgbClr val="C8860A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Coordenador Geral</a:t>
            </a:r>
            <a:endParaRPr sz="2000" b="1" i="0" dirty="0">
              <a:solidFill>
                <a:srgbClr val="C8860A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17" name="TextBox 15">
            <a:extLst>
              <a:ext uri="{FF2B5EF4-FFF2-40B4-BE49-F238E27FC236}">
                <a16:creationId xmlns:a16="http://schemas.microsoft.com/office/drawing/2014/main" id="{5038CB84-CA42-108A-64DB-12C2CFBBFAE6}"/>
              </a:ext>
            </a:extLst>
          </p:cNvPr>
          <p:cNvSpPr txBox="1"/>
          <p:nvPr/>
        </p:nvSpPr>
        <p:spPr>
          <a:xfrm>
            <a:off x="4664700" y="4213164"/>
            <a:ext cx="3418007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pt-BR" sz="2000" b="1" dirty="0">
                <a:solidFill>
                  <a:srgbClr val="C8860A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Docentes colaboradores</a:t>
            </a:r>
            <a:endParaRPr sz="2000" b="1" i="0" dirty="0">
              <a:solidFill>
                <a:srgbClr val="C8860A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43DF224D-1CCA-22CD-3C04-7F151AF1A8CA}"/>
              </a:ext>
            </a:extLst>
          </p:cNvPr>
          <p:cNvSpPr txBox="1"/>
          <p:nvPr/>
        </p:nvSpPr>
        <p:spPr>
          <a:xfrm>
            <a:off x="7909560" y="2989295"/>
            <a:ext cx="4244258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2000" dirty="0">
                <a:solidFill>
                  <a:srgbClr val="F5E6C8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Inscrições:</a:t>
            </a:r>
          </a:p>
          <a:p>
            <a:r>
              <a:rPr lang="pt-BR" sz="2000" dirty="0">
                <a:solidFill>
                  <a:srgbClr val="F5E6C8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https://</a:t>
            </a:r>
            <a:r>
              <a:rPr lang="pt-BR" sz="2000" dirty="0" err="1">
                <a:solidFill>
                  <a:srgbClr val="F5E6C8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pachamamauemasul.com</a:t>
            </a:r>
            <a:endParaRPr sz="2000" b="0" i="0" dirty="0">
              <a:solidFill>
                <a:srgbClr val="F5E6C8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E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C88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137160"/>
            <a:ext cx="1005840" cy="868680"/>
          </a:xfrm>
          <a:prstGeom prst="rect">
            <a:avLst/>
          </a:prstGeom>
          <a:solidFill>
            <a:srgbClr val="8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86779"/>
            <a:ext cx="1005840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DIA</a:t>
            </a:r>
          </a:p>
          <a:p>
            <a:pPr algn="ctr"/>
            <a:r>
              <a:rPr sz="2200" b="1" i="0" dirty="0">
                <a:solidFill>
                  <a:srgbClr val="FFFFFF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51882"/>
            <a:ext cx="932688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pt-BR" sz="2800" b="1" i="0" dirty="0">
                <a:solidFill>
                  <a:srgbClr val="C8860A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(</a:t>
            </a:r>
            <a:r>
              <a:rPr sz="2800" b="1" i="0" dirty="0">
                <a:solidFill>
                  <a:srgbClr val="C8860A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05 de </a:t>
            </a:r>
            <a:r>
              <a:rPr sz="2800" b="1" i="0" dirty="0" err="1">
                <a:solidFill>
                  <a:srgbClr val="C8860A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novembro</a:t>
            </a:r>
            <a:r>
              <a:rPr sz="2800" b="1" i="0" dirty="0">
                <a:solidFill>
                  <a:srgbClr val="C8860A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de 2026  ·  </a:t>
            </a:r>
            <a:r>
              <a:rPr lang="pt-BR" sz="2800" b="1" i="0" dirty="0" err="1">
                <a:solidFill>
                  <a:srgbClr val="C8860A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Q</a:t>
            </a:r>
            <a:r>
              <a:rPr sz="2800" b="1" i="0" dirty="0" err="1">
                <a:solidFill>
                  <a:srgbClr val="C8860A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uinta-feira</a:t>
            </a:r>
            <a:r>
              <a:rPr lang="pt-BR" sz="2800" b="1" i="0" dirty="0">
                <a:solidFill>
                  <a:srgbClr val="C8860A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)</a:t>
            </a:r>
            <a:endParaRPr sz="2800" b="1" i="0" dirty="0">
              <a:solidFill>
                <a:srgbClr val="C8860A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0040" y="1409218"/>
            <a:ext cx="2011680" cy="640080"/>
          </a:xfrm>
          <a:prstGeom prst="rect">
            <a:avLst/>
          </a:prstGeom>
          <a:solidFill>
            <a:srgbClr val="2A1A08"/>
          </a:solidFill>
          <a:ln w="15240">
            <a:solidFill>
              <a:srgbClr val="C88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529336"/>
            <a:ext cx="201168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 i="0" dirty="0">
                <a:solidFill>
                  <a:srgbClr val="C8860A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09h00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485936"/>
            <a:ext cx="932688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 dirty="0">
                <a:solidFill>
                  <a:srgbClr val="E8B84B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🏛️  </a:t>
            </a:r>
            <a:r>
              <a:rPr sz="2800" b="1" i="0" dirty="0" err="1">
                <a:solidFill>
                  <a:srgbClr val="E8B84B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Abertura</a:t>
            </a:r>
            <a:r>
              <a:rPr sz="2800" b="1" i="0" dirty="0">
                <a:solidFill>
                  <a:srgbClr val="E8B84B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</a:t>
            </a:r>
            <a:r>
              <a:rPr sz="2800" b="1" i="0" dirty="0" err="1">
                <a:solidFill>
                  <a:srgbClr val="E8B84B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Oficial</a:t>
            </a:r>
            <a:endParaRPr sz="2800" b="1" i="0" dirty="0">
              <a:solidFill>
                <a:srgbClr val="E8B84B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8B7B3121-AC60-73BA-C2E3-A9752345A913}"/>
              </a:ext>
            </a:extLst>
          </p:cNvPr>
          <p:cNvSpPr txBox="1"/>
          <p:nvPr/>
        </p:nvSpPr>
        <p:spPr>
          <a:xfrm>
            <a:off x="2413608" y="3667385"/>
            <a:ext cx="932688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 dirty="0">
                <a:solidFill>
                  <a:srgbClr val="E8B84B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📖  </a:t>
            </a:r>
            <a:r>
              <a:rPr sz="2800" b="1" i="0" dirty="0" err="1">
                <a:solidFill>
                  <a:srgbClr val="E8B84B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Lançamento</a:t>
            </a:r>
            <a:r>
              <a:rPr sz="2800" b="1" i="0" dirty="0">
                <a:solidFill>
                  <a:srgbClr val="E8B84B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de </a:t>
            </a:r>
            <a:r>
              <a:rPr sz="2800" b="1" i="0" dirty="0" err="1">
                <a:solidFill>
                  <a:srgbClr val="E8B84B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Livros</a:t>
            </a:r>
            <a:endParaRPr sz="2800" b="1" i="0" dirty="0">
              <a:solidFill>
                <a:srgbClr val="E8B84B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53CABB5D-A0A8-B731-38DC-08E035CAE9DF}"/>
              </a:ext>
            </a:extLst>
          </p:cNvPr>
          <p:cNvSpPr/>
          <p:nvPr/>
        </p:nvSpPr>
        <p:spPr>
          <a:xfrm>
            <a:off x="320040" y="3615268"/>
            <a:ext cx="2011680" cy="640080"/>
          </a:xfrm>
          <a:prstGeom prst="rect">
            <a:avLst/>
          </a:prstGeom>
          <a:solidFill>
            <a:srgbClr val="2A1A08"/>
          </a:solidFill>
          <a:ln w="15240">
            <a:solidFill>
              <a:srgbClr val="C88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600" b="1" dirty="0">
                <a:solidFill>
                  <a:srgbClr val="C8860A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09h30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E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C88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137160"/>
            <a:ext cx="1005840" cy="868680"/>
          </a:xfrm>
          <a:prstGeom prst="rect">
            <a:avLst/>
          </a:prstGeom>
          <a:solidFill>
            <a:srgbClr val="8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86779"/>
            <a:ext cx="1005840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DIA</a:t>
            </a:r>
          </a:p>
          <a:p>
            <a:pPr algn="ctr"/>
            <a:r>
              <a:rPr sz="2200" b="1" i="0" dirty="0">
                <a:solidFill>
                  <a:srgbClr val="FFFFFF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64591"/>
            <a:ext cx="7696726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pt-BR" sz="2800" b="1" i="0" dirty="0">
                <a:solidFill>
                  <a:srgbClr val="C8860A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(</a:t>
            </a:r>
            <a:r>
              <a:rPr sz="2800" b="1" i="0" dirty="0">
                <a:solidFill>
                  <a:srgbClr val="C8860A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05 de </a:t>
            </a:r>
            <a:r>
              <a:rPr sz="2800" b="1" i="0" dirty="0" err="1">
                <a:solidFill>
                  <a:srgbClr val="C8860A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novembro</a:t>
            </a:r>
            <a:r>
              <a:rPr sz="2800" b="1" i="0" dirty="0">
                <a:solidFill>
                  <a:srgbClr val="C8860A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de 2026  ·  quinta-</a:t>
            </a:r>
            <a:r>
              <a:rPr sz="2800" b="1" i="0" dirty="0" err="1">
                <a:solidFill>
                  <a:srgbClr val="C8860A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feira</a:t>
            </a:r>
            <a:r>
              <a:rPr lang="pt-BR" sz="2800" b="1" i="0" dirty="0">
                <a:solidFill>
                  <a:srgbClr val="C8860A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)</a:t>
            </a:r>
            <a:endParaRPr sz="2800" b="1" i="0" dirty="0">
              <a:solidFill>
                <a:srgbClr val="C8860A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2011680" cy="640080"/>
          </a:xfrm>
          <a:prstGeom prst="rect">
            <a:avLst/>
          </a:prstGeom>
          <a:solidFill>
            <a:srgbClr val="2A1A08"/>
          </a:solidFill>
          <a:ln w="15240">
            <a:solidFill>
              <a:srgbClr val="C88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216819"/>
            <a:ext cx="201168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 i="0" dirty="0">
                <a:solidFill>
                  <a:srgbClr val="C8860A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10h00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219718"/>
            <a:ext cx="932688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 dirty="0">
                <a:solidFill>
                  <a:srgbClr val="E8B84B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🎤  Palestra de </a:t>
            </a:r>
            <a:r>
              <a:rPr sz="2800" b="1" i="0" dirty="0" err="1">
                <a:solidFill>
                  <a:srgbClr val="E8B84B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Abertura</a:t>
            </a:r>
            <a:endParaRPr sz="2800" b="1" i="0" dirty="0">
              <a:solidFill>
                <a:srgbClr val="E8B84B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320040" y="1993392"/>
            <a:ext cx="11548872" cy="0"/>
          </a:xfrm>
          <a:prstGeom prst="line">
            <a:avLst/>
          </a:prstGeom>
          <a:ln w="7620">
            <a:solidFill>
              <a:srgbClr val="C886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20040" y="2084832"/>
            <a:ext cx="11548872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 i="1" dirty="0" err="1">
                <a:solidFill>
                  <a:srgbClr val="F5E6C8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Autonomia</a:t>
            </a:r>
            <a:r>
              <a:rPr sz="2800" b="0" i="1" dirty="0">
                <a:solidFill>
                  <a:srgbClr val="F5E6C8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, </a:t>
            </a:r>
            <a:r>
              <a:rPr sz="2800" b="0" i="1" dirty="0" err="1">
                <a:solidFill>
                  <a:srgbClr val="F5E6C8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Autogoverno</a:t>
            </a:r>
            <a:r>
              <a:rPr sz="2800" b="0" i="1" dirty="0">
                <a:solidFill>
                  <a:srgbClr val="F5E6C8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e </a:t>
            </a:r>
            <a:r>
              <a:rPr sz="2800" b="0" i="1" dirty="0" err="1">
                <a:solidFill>
                  <a:srgbClr val="F5E6C8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Protagonismo</a:t>
            </a:r>
            <a:r>
              <a:rPr sz="2800" b="0" i="1" dirty="0">
                <a:solidFill>
                  <a:srgbClr val="F5E6C8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</a:t>
            </a:r>
            <a:r>
              <a:rPr sz="2800" b="0" i="1" dirty="0" err="1">
                <a:solidFill>
                  <a:srgbClr val="F5E6C8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Indígena</a:t>
            </a:r>
            <a:r>
              <a:rPr sz="2800" b="0" i="1" dirty="0">
                <a:solidFill>
                  <a:srgbClr val="F5E6C8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: </a:t>
            </a:r>
            <a:r>
              <a:rPr sz="2800" b="0" i="1" dirty="0" err="1">
                <a:solidFill>
                  <a:srgbClr val="F5E6C8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experiências</a:t>
            </a:r>
            <a:r>
              <a:rPr sz="2800" b="0" i="1" dirty="0">
                <a:solidFill>
                  <a:srgbClr val="F5E6C8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do Peru e do México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040" y="2587752"/>
            <a:ext cx="11548872" cy="0"/>
          </a:xfrm>
          <a:prstGeom prst="line">
            <a:avLst/>
          </a:prstGeom>
          <a:ln w="5080">
            <a:solidFill>
              <a:srgbClr val="3A25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342021" y="6040911"/>
            <a:ext cx="4616117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 i="1" dirty="0">
                <a:solidFill>
                  <a:srgbClr val="9A7A5A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🌐 Google Meet  (08h00 Peru / 07h00 México)</a:t>
            </a:r>
            <a:r>
              <a:rPr lang="pt-BR" sz="2000" b="1" i="1" dirty="0">
                <a:solidFill>
                  <a:srgbClr val="9A7A5A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. Acesso pelo </a:t>
            </a:r>
            <a:r>
              <a:rPr lang="pt-BR" sz="2000" b="1" i="1" dirty="0" err="1">
                <a:solidFill>
                  <a:srgbClr val="9A7A5A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Qrcode</a:t>
            </a:r>
            <a:r>
              <a:rPr lang="pt-BR" sz="2000" b="1" i="1" dirty="0">
                <a:solidFill>
                  <a:srgbClr val="9A7A5A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:</a:t>
            </a:r>
            <a:endParaRPr sz="2000" b="1" i="1" dirty="0">
              <a:solidFill>
                <a:srgbClr val="9A7A5A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CB2F5B95-8954-28A2-19B4-1835453CF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1952" y="5431640"/>
            <a:ext cx="1264458" cy="1218542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A52547FF-AA70-0F63-8A99-7933E84635C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030844" y="3145395"/>
            <a:ext cx="1980000" cy="19440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189D5F1D-A6FE-3D5F-9280-194C4155C1C2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072804" y="3123435"/>
            <a:ext cx="1980000" cy="19440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7" name="CaixaDeTexto 26">
            <a:extLst>
              <a:ext uri="{FF2B5EF4-FFF2-40B4-BE49-F238E27FC236}">
                <a16:creationId xmlns:a16="http://schemas.microsoft.com/office/drawing/2014/main" id="{ABAD084C-F66E-9936-A0A3-4704B49C18C8}"/>
              </a:ext>
            </a:extLst>
          </p:cNvPr>
          <p:cNvSpPr txBox="1"/>
          <p:nvPr/>
        </p:nvSpPr>
        <p:spPr>
          <a:xfrm>
            <a:off x="1121737" y="5203882"/>
            <a:ext cx="226330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 err="1">
                <a:solidFill>
                  <a:srgbClr val="C0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Dra</a:t>
            </a:r>
            <a:r>
              <a:rPr lang="pt-BR" b="1" dirty="0">
                <a:solidFill>
                  <a:srgbClr val="C0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</a:t>
            </a:r>
            <a:r>
              <a:rPr lang="pt-BR" b="1" dirty="0" err="1">
                <a:solidFill>
                  <a:srgbClr val="C0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Shyrley</a:t>
            </a:r>
            <a:r>
              <a:rPr lang="pt-BR" b="1" dirty="0">
                <a:solidFill>
                  <a:srgbClr val="C0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 </a:t>
            </a:r>
            <a:r>
              <a:rPr lang="pt-BR" b="1" dirty="0" err="1">
                <a:solidFill>
                  <a:srgbClr val="C0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Aymara</a:t>
            </a:r>
            <a:r>
              <a:rPr lang="pt-BR" b="1" dirty="0">
                <a:solidFill>
                  <a:srgbClr val="C0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(PUCP · Peru)</a:t>
            </a:r>
            <a:endParaRPr lang="pt-BR" sz="3600" b="1" dirty="0">
              <a:solidFill>
                <a:srgbClr val="C00000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BE183265-BFE4-0E1B-1253-B104DBE600D4}"/>
              </a:ext>
            </a:extLst>
          </p:cNvPr>
          <p:cNvSpPr txBox="1"/>
          <p:nvPr/>
        </p:nvSpPr>
        <p:spPr>
          <a:xfrm>
            <a:off x="4426493" y="5192424"/>
            <a:ext cx="17968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C0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Dr. </a:t>
            </a:r>
            <a:r>
              <a:rPr lang="pt-BR" b="1" dirty="0" err="1">
                <a:solidFill>
                  <a:srgbClr val="C0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Luis</a:t>
            </a:r>
            <a:r>
              <a:rPr lang="pt-BR" b="1" dirty="0">
                <a:solidFill>
                  <a:srgbClr val="C0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Pérez (ENES-UNAM · México)</a:t>
            </a:r>
            <a:endParaRPr lang="pt-BR" sz="3600" b="1" dirty="0">
              <a:solidFill>
                <a:srgbClr val="C00000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E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C88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137160"/>
            <a:ext cx="1005840" cy="868680"/>
          </a:xfrm>
          <a:prstGeom prst="rect">
            <a:avLst/>
          </a:prstGeom>
          <a:solidFill>
            <a:srgbClr val="8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86779"/>
            <a:ext cx="1005840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DIA</a:t>
            </a:r>
          </a:p>
          <a:p>
            <a:pPr algn="ctr"/>
            <a:r>
              <a:rPr sz="2200" b="1" i="0" dirty="0">
                <a:solidFill>
                  <a:srgbClr val="FFFFFF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2" y="225701"/>
            <a:ext cx="85496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pt-BR" sz="2800" b="1" i="0" dirty="0">
                <a:solidFill>
                  <a:srgbClr val="C8860A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(</a:t>
            </a:r>
            <a:r>
              <a:rPr sz="2800" b="1" i="0" dirty="0">
                <a:solidFill>
                  <a:srgbClr val="C8860A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05 de </a:t>
            </a:r>
            <a:r>
              <a:rPr sz="2800" b="1" i="0" dirty="0" err="1">
                <a:solidFill>
                  <a:srgbClr val="C8860A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novembro</a:t>
            </a:r>
            <a:r>
              <a:rPr sz="2800" b="1" i="0" dirty="0">
                <a:solidFill>
                  <a:srgbClr val="C8860A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de 2026  ·  quinta-</a:t>
            </a:r>
            <a:r>
              <a:rPr sz="2800" b="1" i="0" dirty="0" err="1">
                <a:solidFill>
                  <a:srgbClr val="C8860A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feira</a:t>
            </a:r>
            <a:r>
              <a:rPr lang="pt-BR" sz="2800" b="1" i="0" dirty="0">
                <a:solidFill>
                  <a:srgbClr val="C8860A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)</a:t>
            </a:r>
            <a:endParaRPr sz="2800" b="1" i="0" dirty="0">
              <a:solidFill>
                <a:srgbClr val="C8860A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2011680" cy="640080"/>
          </a:xfrm>
          <a:prstGeom prst="rect">
            <a:avLst/>
          </a:prstGeom>
          <a:solidFill>
            <a:srgbClr val="2A1A08"/>
          </a:solidFill>
          <a:ln w="15240">
            <a:solidFill>
              <a:srgbClr val="C88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216819"/>
            <a:ext cx="201168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 i="0" dirty="0">
                <a:solidFill>
                  <a:srgbClr val="C8860A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16h30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228850"/>
            <a:ext cx="3718249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 dirty="0">
                <a:solidFill>
                  <a:srgbClr val="E8B84B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🖊️  </a:t>
            </a:r>
            <a:r>
              <a:rPr sz="2800" b="1" i="0" dirty="0" err="1">
                <a:solidFill>
                  <a:srgbClr val="E8B84B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Oficina</a:t>
            </a:r>
            <a:endParaRPr sz="2800" b="1" i="0" dirty="0">
              <a:solidFill>
                <a:srgbClr val="E8B84B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320040" y="1993392"/>
            <a:ext cx="11548872" cy="0"/>
          </a:xfrm>
          <a:prstGeom prst="line">
            <a:avLst/>
          </a:prstGeom>
          <a:ln w="7620">
            <a:solidFill>
              <a:srgbClr val="C886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20040" y="2084832"/>
            <a:ext cx="11548872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pt-BR" sz="3200" i="1" dirty="0">
                <a:solidFill>
                  <a:srgbClr val="F5E6C8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Relatos de um professor brasileiro na Coreia do Norte: sobre 8 décadas de revolução socialista na Ásia</a:t>
            </a:r>
            <a:endParaRPr sz="3200" b="0" i="1" dirty="0">
              <a:solidFill>
                <a:srgbClr val="F5E6C8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987040" y="6262419"/>
            <a:ext cx="822642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pt-BR" sz="2800" b="1" dirty="0">
                <a:solidFill>
                  <a:srgbClr val="C0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Dr. Diego Grossi (GLEHE/UNITINS)</a:t>
            </a:r>
            <a:endParaRPr lang="pt-BR" sz="4800" b="1" dirty="0">
              <a:solidFill>
                <a:srgbClr val="C00000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7B47ED5-7514-ACD1-8CFB-35F98196C099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770728" y="3429000"/>
            <a:ext cx="2700000" cy="27000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3" name="TextBox 8">
            <a:extLst>
              <a:ext uri="{FF2B5EF4-FFF2-40B4-BE49-F238E27FC236}">
                <a16:creationId xmlns:a16="http://schemas.microsoft.com/office/drawing/2014/main" id="{7D333AE7-6C95-9A6F-6540-9516A7CCD701}"/>
              </a:ext>
            </a:extLst>
          </p:cNvPr>
          <p:cNvSpPr txBox="1"/>
          <p:nvPr/>
        </p:nvSpPr>
        <p:spPr>
          <a:xfrm>
            <a:off x="5269462" y="1177905"/>
            <a:ext cx="614360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pt-BR" sz="2800" b="1" dirty="0">
                <a:solidFill>
                  <a:srgbClr val="E8B84B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Presencial · Auditório </a:t>
            </a:r>
            <a:r>
              <a:rPr lang="pt-BR" sz="2800" b="1" dirty="0" err="1">
                <a:solidFill>
                  <a:srgbClr val="E8B84B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I</a:t>
            </a:r>
            <a:r>
              <a:rPr lang="pt-BR" sz="2800" b="1" dirty="0">
                <a:solidFill>
                  <a:srgbClr val="E8B84B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, UEMASUL</a:t>
            </a:r>
            <a:endParaRPr sz="2800" b="1" i="0" dirty="0">
              <a:solidFill>
                <a:srgbClr val="E8B84B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E0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F39534-57CA-F80B-95F7-56FF9A858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36C456-D5BF-E4AB-E187-1FCDB031AD20}"/>
              </a:ext>
            </a:extLst>
          </p:cNvPr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C88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DDE62B-4979-28E1-A93D-6BE0EECE3A0F}"/>
              </a:ext>
            </a:extLst>
          </p:cNvPr>
          <p:cNvSpPr/>
          <p:nvPr/>
        </p:nvSpPr>
        <p:spPr>
          <a:xfrm>
            <a:off x="320040" y="137160"/>
            <a:ext cx="1005840" cy="868680"/>
          </a:xfrm>
          <a:prstGeom prst="rect">
            <a:avLst/>
          </a:prstGeom>
          <a:solidFill>
            <a:srgbClr val="8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0BB9FE-72BF-E296-72F5-92A8AAC35834}"/>
              </a:ext>
            </a:extLst>
          </p:cNvPr>
          <p:cNvSpPr txBox="1"/>
          <p:nvPr/>
        </p:nvSpPr>
        <p:spPr>
          <a:xfrm>
            <a:off x="320040" y="186779"/>
            <a:ext cx="1005840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DIA</a:t>
            </a:r>
          </a:p>
          <a:p>
            <a:pPr algn="ctr"/>
            <a:r>
              <a:rPr sz="2200" b="1" i="0" dirty="0">
                <a:solidFill>
                  <a:srgbClr val="FFFFFF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43A22C-B06E-A8EC-FC32-8C2C966AA5BB}"/>
              </a:ext>
            </a:extLst>
          </p:cNvPr>
          <p:cNvSpPr txBox="1"/>
          <p:nvPr/>
        </p:nvSpPr>
        <p:spPr>
          <a:xfrm>
            <a:off x="1463040" y="164592"/>
            <a:ext cx="96012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 dirty="0">
                <a:solidFill>
                  <a:srgbClr val="C8860A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05 de </a:t>
            </a:r>
            <a:r>
              <a:rPr sz="2800" b="1" i="0" dirty="0" err="1">
                <a:solidFill>
                  <a:srgbClr val="C8860A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novembro</a:t>
            </a:r>
            <a:r>
              <a:rPr sz="2800" b="1" i="0" dirty="0">
                <a:solidFill>
                  <a:srgbClr val="C8860A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de 2026  ·  quinta-</a:t>
            </a:r>
            <a:r>
              <a:rPr sz="2800" b="1" i="0" dirty="0" err="1">
                <a:solidFill>
                  <a:srgbClr val="C8860A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feira</a:t>
            </a:r>
            <a:endParaRPr sz="2800" b="1" i="0" dirty="0">
              <a:solidFill>
                <a:srgbClr val="C8860A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D6D130-3228-33C3-FFE4-E7C8FDDF63A2}"/>
              </a:ext>
            </a:extLst>
          </p:cNvPr>
          <p:cNvSpPr/>
          <p:nvPr/>
        </p:nvSpPr>
        <p:spPr>
          <a:xfrm>
            <a:off x="320040" y="1143000"/>
            <a:ext cx="2011680" cy="640080"/>
          </a:xfrm>
          <a:prstGeom prst="rect">
            <a:avLst/>
          </a:prstGeom>
          <a:solidFill>
            <a:srgbClr val="2A1A08"/>
          </a:solidFill>
          <a:ln w="15240">
            <a:solidFill>
              <a:srgbClr val="C88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7D8D0D-4074-FA5B-0F59-0BEF3EF04097}"/>
              </a:ext>
            </a:extLst>
          </p:cNvPr>
          <p:cNvSpPr txBox="1"/>
          <p:nvPr/>
        </p:nvSpPr>
        <p:spPr>
          <a:xfrm>
            <a:off x="320040" y="1216819"/>
            <a:ext cx="201168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2600" b="1" dirty="0">
                <a:solidFill>
                  <a:srgbClr val="C8860A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19</a:t>
            </a:r>
            <a:r>
              <a:rPr sz="2600" b="1" i="0" dirty="0">
                <a:solidFill>
                  <a:srgbClr val="C8860A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h30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FE7478-3CC5-1783-7F93-E25171E12798}"/>
              </a:ext>
            </a:extLst>
          </p:cNvPr>
          <p:cNvSpPr txBox="1"/>
          <p:nvPr/>
        </p:nvSpPr>
        <p:spPr>
          <a:xfrm>
            <a:off x="2514600" y="1228850"/>
            <a:ext cx="3718249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 dirty="0">
                <a:solidFill>
                  <a:srgbClr val="E8B84B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🖊️  </a:t>
            </a:r>
            <a:r>
              <a:rPr sz="2800" b="1" i="0" dirty="0" err="1">
                <a:solidFill>
                  <a:srgbClr val="E8B84B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Oficina</a:t>
            </a:r>
            <a:endParaRPr sz="2800" b="1" i="0" dirty="0">
              <a:solidFill>
                <a:srgbClr val="E8B84B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cxnSp>
        <p:nvCxnSpPr>
          <p:cNvPr id="10" name="Connector 9">
            <a:extLst>
              <a:ext uri="{FF2B5EF4-FFF2-40B4-BE49-F238E27FC236}">
                <a16:creationId xmlns:a16="http://schemas.microsoft.com/office/drawing/2014/main" id="{D56305C2-09CC-754B-EC87-18DB2535801E}"/>
              </a:ext>
            </a:extLst>
          </p:cNvPr>
          <p:cNvCxnSpPr/>
          <p:nvPr/>
        </p:nvCxnSpPr>
        <p:spPr>
          <a:xfrm>
            <a:off x="320040" y="1993392"/>
            <a:ext cx="11548872" cy="0"/>
          </a:xfrm>
          <a:prstGeom prst="line">
            <a:avLst/>
          </a:prstGeom>
          <a:ln w="7620">
            <a:solidFill>
              <a:srgbClr val="C886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8C18B7F-3C76-F034-1545-EE7FAE401BEB}"/>
              </a:ext>
            </a:extLst>
          </p:cNvPr>
          <p:cNvSpPr txBox="1"/>
          <p:nvPr/>
        </p:nvSpPr>
        <p:spPr>
          <a:xfrm>
            <a:off x="0" y="2306787"/>
            <a:ext cx="11548872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pt-BR" sz="3200" i="1" dirty="0">
                <a:solidFill>
                  <a:srgbClr val="F5E6C8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Guatemala: memória, resistência indígena e desigualdade social a partir do testemunho de Rigoberta Menchú</a:t>
            </a:r>
          </a:p>
        </p:txBody>
      </p:sp>
      <p:sp>
        <p:nvSpPr>
          <p:cNvPr id="21" name="TextBox 8">
            <a:extLst>
              <a:ext uri="{FF2B5EF4-FFF2-40B4-BE49-F238E27FC236}">
                <a16:creationId xmlns:a16="http://schemas.microsoft.com/office/drawing/2014/main" id="{77484532-FAC3-8C4A-0828-3473FE2C9343}"/>
              </a:ext>
            </a:extLst>
          </p:cNvPr>
          <p:cNvSpPr txBox="1"/>
          <p:nvPr/>
        </p:nvSpPr>
        <p:spPr>
          <a:xfrm>
            <a:off x="5269462" y="1177905"/>
            <a:ext cx="614360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pt-BR" sz="2800" b="1" dirty="0">
                <a:solidFill>
                  <a:srgbClr val="E8B84B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Presencial · Auditório </a:t>
            </a:r>
            <a:r>
              <a:rPr lang="pt-BR" sz="2800" b="1" dirty="0" err="1">
                <a:solidFill>
                  <a:srgbClr val="E8B84B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I</a:t>
            </a:r>
            <a:r>
              <a:rPr lang="pt-BR" sz="2800" b="1" dirty="0">
                <a:solidFill>
                  <a:srgbClr val="E8B84B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, UEMASUL</a:t>
            </a:r>
            <a:endParaRPr sz="2800" b="1" i="0" dirty="0">
              <a:solidFill>
                <a:srgbClr val="E8B84B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20F5E5C-0F1F-6F6D-A763-950D8912A3D1}"/>
              </a:ext>
            </a:extLst>
          </p:cNvPr>
          <p:cNvSpPr txBox="1"/>
          <p:nvPr/>
        </p:nvSpPr>
        <p:spPr>
          <a:xfrm>
            <a:off x="2214794" y="6237920"/>
            <a:ext cx="90475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solidFill>
                  <a:srgbClr val="C0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Ramiro Javier </a:t>
            </a:r>
            <a:r>
              <a:rPr lang="pt-BR" sz="2800" b="1" dirty="0" err="1">
                <a:solidFill>
                  <a:srgbClr val="C0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Tellez</a:t>
            </a:r>
            <a:r>
              <a:rPr lang="pt-BR" sz="2800" b="1" dirty="0">
                <a:solidFill>
                  <a:srgbClr val="C0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Martinez (GEHA-</a:t>
            </a:r>
            <a:r>
              <a:rPr lang="pt-BR" sz="2800" b="1" dirty="0" err="1">
                <a:solidFill>
                  <a:srgbClr val="C0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Pachamama</a:t>
            </a:r>
            <a:r>
              <a:rPr lang="pt-BR" sz="2800" b="1" dirty="0">
                <a:solidFill>
                  <a:srgbClr val="C0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)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93B31DC-DDDE-F0F8-8611-2CC743BF11C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882849" y="3528069"/>
            <a:ext cx="2700000" cy="27000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701752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E0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5C0072-7DBB-9A8C-7F8D-D48DC100E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01B1049-CF6E-AF8B-18E9-3223C9036A0B}"/>
              </a:ext>
            </a:extLst>
          </p:cNvPr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C88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4E8B74-A2CD-448E-0C1F-CCC5BFBDBB04}"/>
              </a:ext>
            </a:extLst>
          </p:cNvPr>
          <p:cNvSpPr/>
          <p:nvPr/>
        </p:nvSpPr>
        <p:spPr>
          <a:xfrm>
            <a:off x="320040" y="137160"/>
            <a:ext cx="1005840" cy="868680"/>
          </a:xfrm>
          <a:prstGeom prst="rect">
            <a:avLst/>
          </a:prstGeom>
          <a:solidFill>
            <a:srgbClr val="8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C6EE72-6C10-636C-1F96-6DE2D6BB308C}"/>
              </a:ext>
            </a:extLst>
          </p:cNvPr>
          <p:cNvSpPr txBox="1"/>
          <p:nvPr/>
        </p:nvSpPr>
        <p:spPr>
          <a:xfrm>
            <a:off x="320040" y="186779"/>
            <a:ext cx="1005840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DIA</a:t>
            </a:r>
          </a:p>
          <a:p>
            <a:pPr algn="ctr"/>
            <a:r>
              <a:rPr lang="pt-BR" sz="2200" b="1" i="0" dirty="0">
                <a:solidFill>
                  <a:srgbClr val="FFFFFF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2</a:t>
            </a:r>
            <a:endParaRPr sz="2200" b="1" i="0" dirty="0">
              <a:solidFill>
                <a:srgbClr val="FFFFFF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5194D0-2DA3-D52F-3FD8-AA17CDE8B6F7}"/>
              </a:ext>
            </a:extLst>
          </p:cNvPr>
          <p:cNvSpPr txBox="1"/>
          <p:nvPr/>
        </p:nvSpPr>
        <p:spPr>
          <a:xfrm>
            <a:off x="1463040" y="164592"/>
            <a:ext cx="96012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 dirty="0">
                <a:solidFill>
                  <a:srgbClr val="C8860A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0</a:t>
            </a:r>
            <a:r>
              <a:rPr lang="pt-BR" sz="2800" b="1" i="0" dirty="0">
                <a:solidFill>
                  <a:srgbClr val="C8860A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6</a:t>
            </a:r>
            <a:r>
              <a:rPr sz="2800" b="1" i="0" dirty="0">
                <a:solidFill>
                  <a:srgbClr val="C8860A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de </a:t>
            </a:r>
            <a:r>
              <a:rPr sz="2800" b="1" i="0" dirty="0" err="1">
                <a:solidFill>
                  <a:srgbClr val="C8860A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novembro</a:t>
            </a:r>
            <a:r>
              <a:rPr sz="2800" b="1" i="0" dirty="0">
                <a:solidFill>
                  <a:srgbClr val="C8860A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de 2026  ·  quinta-</a:t>
            </a:r>
            <a:r>
              <a:rPr sz="2800" b="1" i="0" dirty="0" err="1">
                <a:solidFill>
                  <a:srgbClr val="C8860A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feira</a:t>
            </a:r>
            <a:endParaRPr sz="2800" b="1" i="0" dirty="0">
              <a:solidFill>
                <a:srgbClr val="C8860A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192954-E548-9DD7-E871-3FBA9A298ABC}"/>
              </a:ext>
            </a:extLst>
          </p:cNvPr>
          <p:cNvSpPr/>
          <p:nvPr/>
        </p:nvSpPr>
        <p:spPr>
          <a:xfrm>
            <a:off x="320040" y="1143000"/>
            <a:ext cx="2011680" cy="640080"/>
          </a:xfrm>
          <a:prstGeom prst="rect">
            <a:avLst/>
          </a:prstGeom>
          <a:solidFill>
            <a:srgbClr val="2A1A08"/>
          </a:solidFill>
          <a:ln w="15240">
            <a:solidFill>
              <a:srgbClr val="C88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7D2AC4-DEEB-27C2-0934-45B345628C70}"/>
              </a:ext>
            </a:extLst>
          </p:cNvPr>
          <p:cNvSpPr txBox="1"/>
          <p:nvPr/>
        </p:nvSpPr>
        <p:spPr>
          <a:xfrm>
            <a:off x="320040" y="1216819"/>
            <a:ext cx="201168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2600" b="1" dirty="0">
                <a:solidFill>
                  <a:srgbClr val="C8860A"/>
                </a:solidFill>
                <a:latin typeface="Cambria"/>
              </a:rPr>
              <a:t>0</a:t>
            </a:r>
            <a:r>
              <a:rPr lang="pt-BR" sz="2600" b="1" i="0" dirty="0">
                <a:solidFill>
                  <a:srgbClr val="C8860A"/>
                </a:solidFill>
                <a:latin typeface="Cambria"/>
              </a:rPr>
              <a:t>9</a:t>
            </a:r>
            <a:r>
              <a:rPr sz="2600" b="1" i="0" dirty="0">
                <a:solidFill>
                  <a:srgbClr val="C8860A"/>
                </a:solidFill>
                <a:latin typeface="Cambria"/>
              </a:rPr>
              <a:t>h00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E40B21-31A3-1AD9-8D45-94754D1829AB}"/>
              </a:ext>
            </a:extLst>
          </p:cNvPr>
          <p:cNvSpPr txBox="1"/>
          <p:nvPr/>
        </p:nvSpPr>
        <p:spPr>
          <a:xfrm>
            <a:off x="2514600" y="1219718"/>
            <a:ext cx="932688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pt-BR" sz="2800" b="1" dirty="0">
                <a:solidFill>
                  <a:srgbClr val="E8B84B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🗣️  Mesa Redonda</a:t>
            </a:r>
            <a:endParaRPr sz="2800" b="1" i="0" dirty="0">
              <a:solidFill>
                <a:srgbClr val="E8B84B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cxnSp>
        <p:nvCxnSpPr>
          <p:cNvPr id="10" name="Connector 9">
            <a:extLst>
              <a:ext uri="{FF2B5EF4-FFF2-40B4-BE49-F238E27FC236}">
                <a16:creationId xmlns:a16="http://schemas.microsoft.com/office/drawing/2014/main" id="{05F00BE0-6CA0-7D1E-7C0D-25E14E9257AC}"/>
              </a:ext>
            </a:extLst>
          </p:cNvPr>
          <p:cNvCxnSpPr/>
          <p:nvPr/>
        </p:nvCxnSpPr>
        <p:spPr>
          <a:xfrm>
            <a:off x="320040" y="1993392"/>
            <a:ext cx="11548872" cy="0"/>
          </a:xfrm>
          <a:prstGeom prst="line">
            <a:avLst/>
          </a:prstGeom>
          <a:ln w="7620">
            <a:solidFill>
              <a:srgbClr val="C886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84E1CA0-781A-6F1F-B0F4-69AB8C2297F2}"/>
              </a:ext>
            </a:extLst>
          </p:cNvPr>
          <p:cNvSpPr txBox="1"/>
          <p:nvPr/>
        </p:nvSpPr>
        <p:spPr>
          <a:xfrm>
            <a:off x="320040" y="2084832"/>
            <a:ext cx="11548872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pt-BR" sz="2800" i="1" dirty="0">
                <a:solidFill>
                  <a:srgbClr val="F5E6C8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Identidades, políticas púbicas e territórios: ancestralidades e alternativas em curso</a:t>
            </a:r>
            <a:endParaRPr sz="2800" b="0" i="1" dirty="0">
              <a:solidFill>
                <a:srgbClr val="F5E6C8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B5532F38-2F0D-BD18-4AEE-2BA6D7957EE1}"/>
              </a:ext>
            </a:extLst>
          </p:cNvPr>
          <p:cNvSpPr txBox="1"/>
          <p:nvPr/>
        </p:nvSpPr>
        <p:spPr>
          <a:xfrm>
            <a:off x="488731" y="6036475"/>
            <a:ext cx="28963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C0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Prof.ª Carmen Barroso (UEMASUL)</a:t>
            </a:r>
            <a:endParaRPr lang="pt-BR" sz="3600" b="1" dirty="0">
              <a:solidFill>
                <a:srgbClr val="C00000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3043F15F-C5D7-D8DD-9C0C-F307C96E50A9}"/>
              </a:ext>
            </a:extLst>
          </p:cNvPr>
          <p:cNvSpPr txBox="1"/>
          <p:nvPr/>
        </p:nvSpPr>
        <p:spPr>
          <a:xfrm>
            <a:off x="3454901" y="5945694"/>
            <a:ext cx="20275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C0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Aline Guajajara (UFPA)</a:t>
            </a:r>
            <a:endParaRPr lang="pt-BR" sz="3600" b="1" dirty="0">
              <a:solidFill>
                <a:srgbClr val="C00000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85D2298-93F9-112B-0A75-62B066810FC0}"/>
              </a:ext>
            </a:extLst>
          </p:cNvPr>
          <p:cNvSpPr txBox="1"/>
          <p:nvPr/>
        </p:nvSpPr>
        <p:spPr>
          <a:xfrm>
            <a:off x="5552281" y="5945693"/>
            <a:ext cx="27842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C0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Dr. Raimundo Carvalho (UNITINS/UEMASUL)</a:t>
            </a:r>
            <a:endParaRPr lang="pt-BR" sz="3600" b="1" dirty="0">
              <a:solidFill>
                <a:srgbClr val="C00000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DC6AFB8-0541-6AA7-4216-7BC9F9A1C3E6}"/>
              </a:ext>
            </a:extLst>
          </p:cNvPr>
          <p:cNvSpPr txBox="1"/>
          <p:nvPr/>
        </p:nvSpPr>
        <p:spPr>
          <a:xfrm>
            <a:off x="8812751" y="5941290"/>
            <a:ext cx="25876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C0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Ismael </a:t>
            </a:r>
            <a:r>
              <a:rPr lang="pt-BR" b="1" dirty="0" err="1">
                <a:solidFill>
                  <a:srgbClr val="C0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Kikati</a:t>
            </a:r>
            <a:r>
              <a:rPr lang="pt-BR" b="1" dirty="0">
                <a:solidFill>
                  <a:srgbClr val="C0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(UFMA)</a:t>
            </a:r>
            <a:endParaRPr lang="pt-BR" sz="3600" b="1" dirty="0">
              <a:solidFill>
                <a:srgbClr val="C00000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A723FDA8-C1D6-E566-C8F7-F4C4B00C6378}"/>
              </a:ext>
            </a:extLst>
          </p:cNvPr>
          <p:cNvSpPr txBox="1"/>
          <p:nvPr/>
        </p:nvSpPr>
        <p:spPr>
          <a:xfrm>
            <a:off x="-266047" y="3056472"/>
            <a:ext cx="5818328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1" dirty="0" err="1">
                <a:solidFill>
                  <a:srgbClr val="F5E6C8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Presencial</a:t>
            </a:r>
            <a:r>
              <a:rPr sz="2400" b="1" i="1" dirty="0">
                <a:solidFill>
                  <a:srgbClr val="F5E6C8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· </a:t>
            </a:r>
            <a:r>
              <a:rPr sz="2400" b="1" i="1" dirty="0" err="1">
                <a:solidFill>
                  <a:srgbClr val="F5E6C8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Auditório</a:t>
            </a:r>
            <a:r>
              <a:rPr sz="2400" b="1" i="1" dirty="0">
                <a:solidFill>
                  <a:srgbClr val="F5E6C8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I</a:t>
            </a:r>
            <a:r>
              <a:rPr lang="pt-BR" sz="2400" b="1" i="1" dirty="0">
                <a:solidFill>
                  <a:srgbClr val="F5E6C8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, UEMASUL</a:t>
            </a:r>
            <a:endParaRPr sz="2400" b="1" i="1" dirty="0">
              <a:solidFill>
                <a:srgbClr val="F5E6C8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pic>
        <p:nvPicPr>
          <p:cNvPr id="14" name="Imagem 13" descr="Imagem do perfil">
            <a:extLst>
              <a:ext uri="{FF2B5EF4-FFF2-40B4-BE49-F238E27FC236}">
                <a16:creationId xmlns:a16="http://schemas.microsoft.com/office/drawing/2014/main" id="{82625178-1B94-0B67-AF27-8A6F49DFC523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05880" y="4312331"/>
            <a:ext cx="1440000" cy="14400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DD6D38B2-1064-BEF2-0F91-44C7285CAB2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385042" y="4363622"/>
            <a:ext cx="1440000" cy="14400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09D9C244-8A8E-CD02-CD5C-9B4BCC79E043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8812751" y="4371084"/>
            <a:ext cx="1440000" cy="14400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3D245DF8-2B34-869A-AC96-8CE768C3D595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5987869" y="4413929"/>
            <a:ext cx="1440000" cy="14400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589049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E0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83844C-C83E-1030-9A63-AE8F633FA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12F630-51EC-B1BF-AA36-8BD30A7E9C89}"/>
              </a:ext>
            </a:extLst>
          </p:cNvPr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C88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EAEFD7-A524-8210-7B32-9C4BCC9968DC}"/>
              </a:ext>
            </a:extLst>
          </p:cNvPr>
          <p:cNvSpPr/>
          <p:nvPr/>
        </p:nvSpPr>
        <p:spPr>
          <a:xfrm>
            <a:off x="320040" y="137160"/>
            <a:ext cx="1005840" cy="868680"/>
          </a:xfrm>
          <a:prstGeom prst="rect">
            <a:avLst/>
          </a:prstGeom>
          <a:solidFill>
            <a:srgbClr val="8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ADFCD6-3599-DDA3-53E3-A8CDFD34DB7C}"/>
              </a:ext>
            </a:extLst>
          </p:cNvPr>
          <p:cNvSpPr txBox="1"/>
          <p:nvPr/>
        </p:nvSpPr>
        <p:spPr>
          <a:xfrm>
            <a:off x="320040" y="186779"/>
            <a:ext cx="1005840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DIA</a:t>
            </a:r>
          </a:p>
          <a:p>
            <a:pPr algn="ctr"/>
            <a:r>
              <a:rPr lang="pt-BR" sz="2200" b="1" i="0" dirty="0">
                <a:solidFill>
                  <a:srgbClr val="FFFFFF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2</a:t>
            </a:r>
            <a:endParaRPr sz="2200" b="1" i="0" dirty="0">
              <a:solidFill>
                <a:srgbClr val="FFFFFF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D1359C-795F-839C-603B-2A6A3D86ADE6}"/>
              </a:ext>
            </a:extLst>
          </p:cNvPr>
          <p:cNvSpPr txBox="1"/>
          <p:nvPr/>
        </p:nvSpPr>
        <p:spPr>
          <a:xfrm>
            <a:off x="1496906" y="198458"/>
            <a:ext cx="96012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 dirty="0">
                <a:solidFill>
                  <a:srgbClr val="C8860A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0</a:t>
            </a:r>
            <a:r>
              <a:rPr lang="pt-BR" sz="2800" b="1" i="0" dirty="0">
                <a:solidFill>
                  <a:srgbClr val="C8860A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6</a:t>
            </a:r>
            <a:r>
              <a:rPr sz="2800" b="1" i="0" dirty="0">
                <a:solidFill>
                  <a:srgbClr val="C8860A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de </a:t>
            </a:r>
            <a:r>
              <a:rPr sz="2800" b="1" i="0" dirty="0" err="1">
                <a:solidFill>
                  <a:srgbClr val="C8860A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novembro</a:t>
            </a:r>
            <a:r>
              <a:rPr sz="2800" b="1" i="0" dirty="0">
                <a:solidFill>
                  <a:srgbClr val="C8860A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de 2026  ·  quinta-</a:t>
            </a:r>
            <a:r>
              <a:rPr sz="2800" b="1" i="0" dirty="0" err="1">
                <a:solidFill>
                  <a:srgbClr val="C8860A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feira</a:t>
            </a:r>
            <a:endParaRPr sz="2800" b="1" i="0" dirty="0">
              <a:solidFill>
                <a:srgbClr val="C8860A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390A63-0BBE-0D3B-A61C-DEA13C9C3BB3}"/>
              </a:ext>
            </a:extLst>
          </p:cNvPr>
          <p:cNvSpPr/>
          <p:nvPr/>
        </p:nvSpPr>
        <p:spPr>
          <a:xfrm>
            <a:off x="320040" y="1143000"/>
            <a:ext cx="2011680" cy="640080"/>
          </a:xfrm>
          <a:prstGeom prst="rect">
            <a:avLst/>
          </a:prstGeom>
          <a:solidFill>
            <a:srgbClr val="2A1A08"/>
          </a:solidFill>
          <a:ln w="15240">
            <a:solidFill>
              <a:srgbClr val="C88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EDF25E-3EC4-AC8E-DDA1-52E7E5CB150C}"/>
              </a:ext>
            </a:extLst>
          </p:cNvPr>
          <p:cNvSpPr txBox="1"/>
          <p:nvPr/>
        </p:nvSpPr>
        <p:spPr>
          <a:xfrm>
            <a:off x="320040" y="1216819"/>
            <a:ext cx="201168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2600" b="1" dirty="0">
                <a:solidFill>
                  <a:srgbClr val="C8860A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14h00</a:t>
            </a:r>
            <a:endParaRPr sz="2600" b="1" i="0" dirty="0">
              <a:solidFill>
                <a:srgbClr val="C8860A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153A73-3C4B-9AE9-4DBF-AB8D43A7A9E2}"/>
              </a:ext>
            </a:extLst>
          </p:cNvPr>
          <p:cNvSpPr txBox="1"/>
          <p:nvPr/>
        </p:nvSpPr>
        <p:spPr>
          <a:xfrm>
            <a:off x="2514600" y="1219718"/>
            <a:ext cx="932688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pt-BR" sz="2800" b="1" dirty="0">
                <a:solidFill>
                  <a:srgbClr val="E8B84B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🗣️ Mesa Redonda · Encerramento do Evento</a:t>
            </a:r>
            <a:endParaRPr sz="2800" b="1" i="0" dirty="0">
              <a:solidFill>
                <a:srgbClr val="E8B84B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cxnSp>
        <p:nvCxnSpPr>
          <p:cNvPr id="10" name="Connector 9">
            <a:extLst>
              <a:ext uri="{FF2B5EF4-FFF2-40B4-BE49-F238E27FC236}">
                <a16:creationId xmlns:a16="http://schemas.microsoft.com/office/drawing/2014/main" id="{C418ADDE-FB0D-3A8C-8A27-A3889B96134E}"/>
              </a:ext>
            </a:extLst>
          </p:cNvPr>
          <p:cNvCxnSpPr/>
          <p:nvPr/>
        </p:nvCxnSpPr>
        <p:spPr>
          <a:xfrm>
            <a:off x="320040" y="1993392"/>
            <a:ext cx="11548872" cy="0"/>
          </a:xfrm>
          <a:prstGeom prst="line">
            <a:avLst/>
          </a:prstGeom>
          <a:ln w="7620">
            <a:solidFill>
              <a:srgbClr val="C886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4F50F59-9A2A-3177-E6D1-C483002541FA}"/>
              </a:ext>
            </a:extLst>
          </p:cNvPr>
          <p:cNvSpPr txBox="1"/>
          <p:nvPr/>
        </p:nvSpPr>
        <p:spPr>
          <a:xfrm>
            <a:off x="523070" y="2247896"/>
            <a:ext cx="11548872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pt-BR" sz="3200" b="1" dirty="0">
                <a:solidFill>
                  <a:srgbClr val="C0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Educação, resistências e protagonismo indígenas na América Latina</a:t>
            </a:r>
            <a:endParaRPr sz="3200" b="1" dirty="0">
              <a:solidFill>
                <a:srgbClr val="C00000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8F15800F-CCD1-CA6C-090B-64E13EF38B4E}"/>
              </a:ext>
            </a:extLst>
          </p:cNvPr>
          <p:cNvSpPr txBox="1"/>
          <p:nvPr/>
        </p:nvSpPr>
        <p:spPr>
          <a:xfrm>
            <a:off x="6621739" y="5996492"/>
            <a:ext cx="28963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Prof. Rogério Veras (UFMA)</a:t>
            </a:r>
            <a:endParaRPr lang="pt-BR" sz="3600" b="1" dirty="0">
              <a:solidFill>
                <a:schemeClr val="bg1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78231881-FB3C-B063-E9E2-408A5A72CA35}"/>
              </a:ext>
            </a:extLst>
          </p:cNvPr>
          <p:cNvSpPr txBox="1"/>
          <p:nvPr/>
        </p:nvSpPr>
        <p:spPr>
          <a:xfrm>
            <a:off x="37917" y="6253733"/>
            <a:ext cx="33311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Me. Wagner Krikati (UFMA)</a:t>
            </a:r>
            <a:endParaRPr lang="pt-BR" sz="3600" b="1" dirty="0">
              <a:solidFill>
                <a:schemeClr val="bg1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184CC7B-A86E-E850-EAB1-B3F9241A8F27}"/>
              </a:ext>
            </a:extLst>
          </p:cNvPr>
          <p:cNvSpPr txBox="1"/>
          <p:nvPr/>
        </p:nvSpPr>
        <p:spPr>
          <a:xfrm>
            <a:off x="9084660" y="5994370"/>
            <a:ext cx="27842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Dr. Raimundo Carvalho (UNITINS/UEMASUL)</a:t>
            </a:r>
            <a:endParaRPr lang="pt-BR" sz="3600" b="1" dirty="0">
              <a:solidFill>
                <a:schemeClr val="bg1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EA46A729-18FC-F97A-0A67-41BFB6D5E284}"/>
              </a:ext>
            </a:extLst>
          </p:cNvPr>
          <p:cNvSpPr txBox="1"/>
          <p:nvPr/>
        </p:nvSpPr>
        <p:spPr>
          <a:xfrm>
            <a:off x="292608" y="3130378"/>
            <a:ext cx="11548872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1" dirty="0" err="1">
                <a:solidFill>
                  <a:srgbClr val="C0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Presencial</a:t>
            </a:r>
            <a:r>
              <a:rPr sz="2400" b="1" i="1" dirty="0">
                <a:solidFill>
                  <a:srgbClr val="C0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· </a:t>
            </a:r>
            <a:r>
              <a:rPr sz="2400" b="1" i="1" dirty="0" err="1">
                <a:solidFill>
                  <a:srgbClr val="C0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Auditório</a:t>
            </a:r>
            <a:r>
              <a:rPr sz="2400" b="1" i="1" dirty="0">
                <a:solidFill>
                  <a:srgbClr val="C0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I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FB4A310-7AA6-2D26-1F40-5C4DF04940B9}"/>
              </a:ext>
            </a:extLst>
          </p:cNvPr>
          <p:cNvSpPr txBox="1"/>
          <p:nvPr/>
        </p:nvSpPr>
        <p:spPr>
          <a:xfrm>
            <a:off x="3419841" y="6195435"/>
            <a:ext cx="2725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Aline Guajajara (UFPA)</a:t>
            </a:r>
            <a:endParaRPr lang="pt-BR" sz="3600" b="1" dirty="0">
              <a:solidFill>
                <a:schemeClr val="bg1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0F2FB89D-A859-B084-BA1E-99D7F3FC8413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9304951" y="4428258"/>
            <a:ext cx="1440000" cy="14400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7" name="Imagem 16" descr="Foto do docente ROGERIO DE CARVALHO VERAS">
            <a:extLst>
              <a:ext uri="{FF2B5EF4-FFF2-40B4-BE49-F238E27FC236}">
                <a16:creationId xmlns:a16="http://schemas.microsoft.com/office/drawing/2014/main" id="{8CBCFB1C-37B2-1897-D043-71D44AD600F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699251" y="4452777"/>
            <a:ext cx="1440000" cy="14400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3F079845-66A3-CB93-10E6-2F71820D6C71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89706" y="4652451"/>
            <a:ext cx="1440000" cy="14400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EE4E7F6D-D10A-040E-AFDC-0F2FA7467395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3752115" y="4483073"/>
            <a:ext cx="1620000" cy="16200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818188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E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C88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956974"/>
            <a:ext cx="1005840" cy="868680"/>
          </a:xfrm>
          <a:prstGeom prst="rect">
            <a:avLst/>
          </a:prstGeom>
          <a:solidFill>
            <a:srgbClr val="8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129704"/>
            <a:ext cx="10058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2800" b="1" i="0" dirty="0">
                <a:solidFill>
                  <a:srgbClr val="FFFFFF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05</a:t>
            </a:r>
            <a:endParaRPr sz="2800" b="1" i="0" dirty="0">
              <a:solidFill>
                <a:srgbClr val="FFFFFF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320040" y="1993392"/>
            <a:ext cx="11548872" cy="0"/>
          </a:xfrm>
          <a:prstGeom prst="line">
            <a:avLst/>
          </a:prstGeom>
          <a:ln w="7620">
            <a:solidFill>
              <a:srgbClr val="C886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20040" y="2084832"/>
            <a:ext cx="1154887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1" dirty="0" err="1">
                <a:solidFill>
                  <a:srgbClr val="F5E6C8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Presencial</a:t>
            </a:r>
            <a:r>
              <a:rPr sz="2800" b="1" i="1" dirty="0">
                <a:solidFill>
                  <a:srgbClr val="F5E6C8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· </a:t>
            </a:r>
            <a:r>
              <a:rPr sz="2800" b="1" i="1" dirty="0" err="1">
                <a:solidFill>
                  <a:srgbClr val="F5E6C8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Auditório</a:t>
            </a:r>
            <a:r>
              <a:rPr sz="2800" b="1" i="1" dirty="0">
                <a:solidFill>
                  <a:srgbClr val="F5E6C8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I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A1653D0A-2FAC-E8E8-4234-7F361462F409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539132"/>
            <a:ext cx="1440000" cy="14400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E76250E3-AA5D-BD03-0E40-C61C5ECD6D4E}"/>
              </a:ext>
            </a:extLst>
          </p:cNvPr>
          <p:cNvSpPr txBox="1"/>
          <p:nvPr/>
        </p:nvSpPr>
        <p:spPr>
          <a:xfrm>
            <a:off x="50800" y="6072267"/>
            <a:ext cx="27896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i="0" dirty="0">
                <a:solidFill>
                  <a:srgbClr val="C0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Dr. Raimundo Moura Filho (UEMASUL/UNITINS)</a:t>
            </a:r>
            <a:endParaRPr lang="pt-BR" sz="3200" b="1" dirty="0">
              <a:solidFill>
                <a:srgbClr val="C00000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pic>
        <p:nvPicPr>
          <p:cNvPr id="19" name="Imagem 18" descr="UEMASUL - Encerrada a votação para reitor e vice-reitor da UEMASUL ...">
            <a:extLst>
              <a:ext uri="{FF2B5EF4-FFF2-40B4-BE49-F238E27FC236}">
                <a16:creationId xmlns:a16="http://schemas.microsoft.com/office/drawing/2014/main" id="{E842C0E2-39B9-0767-A1C1-66D6DEDD347C}"/>
              </a:ext>
            </a:extLst>
          </p:cNvPr>
          <p:cNvPicPr>
            <a:picLocks/>
          </p:cNvPicPr>
          <p:nvPr/>
        </p:nvPicPr>
        <p:blipFill>
          <a:blip r:embed="rId3"/>
          <a:srcRect l="67542" t="-504" b="4137"/>
          <a:stretch>
            <a:fillRect/>
          </a:stretch>
        </p:blipFill>
        <p:spPr>
          <a:xfrm>
            <a:off x="7463642" y="4716934"/>
            <a:ext cx="1440000" cy="14400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0" name="CaixaDeTexto 19">
            <a:extLst>
              <a:ext uri="{FF2B5EF4-FFF2-40B4-BE49-F238E27FC236}">
                <a16:creationId xmlns:a16="http://schemas.microsoft.com/office/drawing/2014/main" id="{CD3EC69D-AC21-00E8-13D8-DFC9CFE1A23E}"/>
              </a:ext>
            </a:extLst>
          </p:cNvPr>
          <p:cNvSpPr txBox="1"/>
          <p:nvPr/>
        </p:nvSpPr>
        <p:spPr>
          <a:xfrm>
            <a:off x="7387738" y="6266741"/>
            <a:ext cx="20733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>
                <a:solidFill>
                  <a:srgbClr val="C0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Dra. Regina Costa Lima (UEMASUL)</a:t>
            </a:r>
            <a:endParaRPr lang="pt-BR" sz="3200" b="1" dirty="0">
              <a:solidFill>
                <a:srgbClr val="C00000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pic>
        <p:nvPicPr>
          <p:cNvPr id="21" name="Imagem 20" descr="Artigos científicos de Fernanda Miler Lima Pinto - Revista Científica">
            <a:extLst>
              <a:ext uri="{FF2B5EF4-FFF2-40B4-BE49-F238E27FC236}">
                <a16:creationId xmlns:a16="http://schemas.microsoft.com/office/drawing/2014/main" id="{81FA1F10-360E-8138-F545-0994C206BFFC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968867" y="4720548"/>
            <a:ext cx="1440000" cy="14400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9AC1CC6E-93D6-172B-933B-2AA510416217}"/>
              </a:ext>
            </a:extLst>
          </p:cNvPr>
          <p:cNvSpPr txBox="1"/>
          <p:nvPr/>
        </p:nvSpPr>
        <p:spPr>
          <a:xfrm>
            <a:off x="4968868" y="6252198"/>
            <a:ext cx="20733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 err="1">
                <a:solidFill>
                  <a:srgbClr val="C0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Dra.Fernada</a:t>
            </a:r>
            <a:r>
              <a:rPr lang="pt-BR" sz="1600" b="1" dirty="0">
                <a:solidFill>
                  <a:srgbClr val="C0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</a:t>
            </a:r>
            <a:r>
              <a:rPr lang="pt-BR" sz="1600" b="1" dirty="0" err="1">
                <a:solidFill>
                  <a:srgbClr val="C0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Miler</a:t>
            </a:r>
            <a:r>
              <a:rPr lang="pt-BR" sz="1600" b="1" dirty="0">
                <a:solidFill>
                  <a:srgbClr val="C0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(UNITINS)</a:t>
            </a:r>
            <a:endParaRPr lang="pt-BR" sz="3200" b="1" dirty="0">
              <a:solidFill>
                <a:srgbClr val="C00000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8F666203-ACB6-858A-11DE-2446AAE77EF1}"/>
              </a:ext>
            </a:extLst>
          </p:cNvPr>
          <p:cNvSpPr/>
          <p:nvPr/>
        </p:nvSpPr>
        <p:spPr>
          <a:xfrm>
            <a:off x="1828800" y="992862"/>
            <a:ext cx="1005840" cy="868680"/>
          </a:xfrm>
          <a:prstGeom prst="rect">
            <a:avLst/>
          </a:prstGeom>
          <a:solidFill>
            <a:srgbClr val="2E6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CDD0F2A5-8393-7A28-85BE-8F25B0B43114}"/>
              </a:ext>
            </a:extLst>
          </p:cNvPr>
          <p:cNvSpPr txBox="1"/>
          <p:nvPr/>
        </p:nvSpPr>
        <p:spPr>
          <a:xfrm>
            <a:off x="1828800" y="1175424"/>
            <a:ext cx="10058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2800" b="1" i="0" dirty="0">
                <a:solidFill>
                  <a:srgbClr val="FFFFFF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06</a:t>
            </a:r>
            <a:endParaRPr sz="2800" b="1" i="0" dirty="0">
              <a:solidFill>
                <a:srgbClr val="FFFFFF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25" name="TextBox 7">
            <a:extLst>
              <a:ext uri="{FF2B5EF4-FFF2-40B4-BE49-F238E27FC236}">
                <a16:creationId xmlns:a16="http://schemas.microsoft.com/office/drawing/2014/main" id="{4B88EE10-1070-5395-67AE-D3CE37FC2AA1}"/>
              </a:ext>
            </a:extLst>
          </p:cNvPr>
          <p:cNvSpPr txBox="1"/>
          <p:nvPr/>
        </p:nvSpPr>
        <p:spPr>
          <a:xfrm>
            <a:off x="1007034" y="1108177"/>
            <a:ext cx="1140612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2800" b="1" i="0" u="sng" dirty="0">
                <a:solidFill>
                  <a:srgbClr val="C8860A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e</a:t>
            </a:r>
            <a:endParaRPr sz="2800" b="1" i="0" u="sng" dirty="0">
              <a:solidFill>
                <a:srgbClr val="C8860A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26" name="TextBox 7">
            <a:extLst>
              <a:ext uri="{FF2B5EF4-FFF2-40B4-BE49-F238E27FC236}">
                <a16:creationId xmlns:a16="http://schemas.microsoft.com/office/drawing/2014/main" id="{DF1D1E88-0A7D-208A-5112-B3273492F1B6}"/>
              </a:ext>
            </a:extLst>
          </p:cNvPr>
          <p:cNvSpPr txBox="1"/>
          <p:nvPr/>
        </p:nvSpPr>
        <p:spPr>
          <a:xfrm>
            <a:off x="2834640" y="1165591"/>
            <a:ext cx="2584027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2800" b="1" u="sng" dirty="0">
                <a:solidFill>
                  <a:srgbClr val="C8860A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de Novembro</a:t>
            </a:r>
            <a:endParaRPr sz="2800" b="1" i="0" u="sng" dirty="0">
              <a:solidFill>
                <a:srgbClr val="C8860A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7CF502C2-490A-65EB-96C0-2CA607FC3A0E}"/>
              </a:ext>
            </a:extLst>
          </p:cNvPr>
          <p:cNvSpPr txBox="1"/>
          <p:nvPr/>
        </p:nvSpPr>
        <p:spPr>
          <a:xfrm>
            <a:off x="2931013" y="6147568"/>
            <a:ext cx="26461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>
                <a:solidFill>
                  <a:srgbClr val="C0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Dr. Diego Grossi (UNITINS)</a:t>
            </a:r>
            <a:endParaRPr lang="pt-BR" sz="3200" b="1" dirty="0">
              <a:solidFill>
                <a:srgbClr val="C00000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29" name="TextBox 8">
            <a:extLst>
              <a:ext uri="{FF2B5EF4-FFF2-40B4-BE49-F238E27FC236}">
                <a16:creationId xmlns:a16="http://schemas.microsoft.com/office/drawing/2014/main" id="{B83FB73C-39D6-7B08-2B56-4002F591A543}"/>
              </a:ext>
            </a:extLst>
          </p:cNvPr>
          <p:cNvSpPr txBox="1"/>
          <p:nvPr/>
        </p:nvSpPr>
        <p:spPr>
          <a:xfrm>
            <a:off x="3287560" y="418108"/>
            <a:ext cx="932688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 i="0" dirty="0">
                <a:solidFill>
                  <a:srgbClr val="E8B84B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📋  </a:t>
            </a:r>
            <a:r>
              <a:rPr sz="3200" b="1" i="0" dirty="0" err="1">
                <a:solidFill>
                  <a:srgbClr val="E8B84B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Apresentação</a:t>
            </a:r>
            <a:r>
              <a:rPr sz="3200" b="1" i="0" dirty="0">
                <a:solidFill>
                  <a:srgbClr val="E8B84B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de </a:t>
            </a:r>
            <a:r>
              <a:rPr sz="3200" b="1" i="0" dirty="0" err="1">
                <a:solidFill>
                  <a:srgbClr val="E8B84B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Trabalhos</a:t>
            </a:r>
            <a:endParaRPr sz="3200" b="1" i="0" dirty="0">
              <a:solidFill>
                <a:srgbClr val="E8B84B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32" name="Rectangle 2">
            <a:extLst>
              <a:ext uri="{FF2B5EF4-FFF2-40B4-BE49-F238E27FC236}">
                <a16:creationId xmlns:a16="http://schemas.microsoft.com/office/drawing/2014/main" id="{89FEB18C-047B-399B-1F3D-3630933BCE21}"/>
              </a:ext>
            </a:extLst>
          </p:cNvPr>
          <p:cNvSpPr/>
          <p:nvPr/>
        </p:nvSpPr>
        <p:spPr>
          <a:xfrm>
            <a:off x="3665377" y="2673810"/>
            <a:ext cx="2514600" cy="539620"/>
          </a:xfrm>
          <a:prstGeom prst="rect">
            <a:avLst/>
          </a:prstGeom>
          <a:solidFill>
            <a:srgbClr val="2E6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3" name="TextBox 3">
            <a:extLst>
              <a:ext uri="{FF2B5EF4-FFF2-40B4-BE49-F238E27FC236}">
                <a16:creationId xmlns:a16="http://schemas.microsoft.com/office/drawing/2014/main" id="{F4F1339F-8898-F48E-D8E8-6B2A0AD249DD}"/>
              </a:ext>
            </a:extLst>
          </p:cNvPr>
          <p:cNvSpPr txBox="1"/>
          <p:nvPr/>
        </p:nvSpPr>
        <p:spPr>
          <a:xfrm>
            <a:off x="3722151" y="2746612"/>
            <a:ext cx="2514601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2200" b="1" dirty="0">
                <a:solidFill>
                  <a:srgbClr val="FFFFFF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DIA 06: ÀS 16h30</a:t>
            </a:r>
            <a:endParaRPr sz="2200" b="1" i="0" dirty="0">
              <a:solidFill>
                <a:srgbClr val="FFFFFF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34" name="Rectangle 2">
            <a:extLst>
              <a:ext uri="{FF2B5EF4-FFF2-40B4-BE49-F238E27FC236}">
                <a16:creationId xmlns:a16="http://schemas.microsoft.com/office/drawing/2014/main" id="{74DBDA86-7502-75B1-EF24-9FD13F978459}"/>
              </a:ext>
            </a:extLst>
          </p:cNvPr>
          <p:cNvSpPr/>
          <p:nvPr/>
        </p:nvSpPr>
        <p:spPr>
          <a:xfrm>
            <a:off x="365614" y="2676342"/>
            <a:ext cx="2771024" cy="520147"/>
          </a:xfrm>
          <a:prstGeom prst="rect">
            <a:avLst/>
          </a:prstGeom>
          <a:solidFill>
            <a:srgbClr val="8B3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5" name="TextBox 3">
            <a:extLst>
              <a:ext uri="{FF2B5EF4-FFF2-40B4-BE49-F238E27FC236}">
                <a16:creationId xmlns:a16="http://schemas.microsoft.com/office/drawing/2014/main" id="{26640679-8ADF-9CAE-7B1F-01E5BF804E49}"/>
              </a:ext>
            </a:extLst>
          </p:cNvPr>
          <p:cNvSpPr txBox="1"/>
          <p:nvPr/>
        </p:nvSpPr>
        <p:spPr>
          <a:xfrm>
            <a:off x="339754" y="2774426"/>
            <a:ext cx="2591259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2200" b="1" dirty="0">
                <a:solidFill>
                  <a:srgbClr val="FFFFFF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DIA 05: ÀS 13h00</a:t>
            </a:r>
            <a:endParaRPr sz="2200" b="1" i="0" dirty="0">
              <a:solidFill>
                <a:srgbClr val="FFFFFF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EF0BCC9-0DE5-8D28-E371-2CD78EBE8A87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3136638" y="4747488"/>
            <a:ext cx="1440000" cy="14400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3FCAB03B-0D6C-70BB-A849-FA1D9BA3BD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43294" y="4980201"/>
            <a:ext cx="1440000" cy="129306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8B67CE8B-7ED3-00E6-1372-9446F08F16B4}"/>
              </a:ext>
            </a:extLst>
          </p:cNvPr>
          <p:cNvSpPr txBox="1"/>
          <p:nvPr/>
        </p:nvSpPr>
        <p:spPr>
          <a:xfrm>
            <a:off x="9743454" y="6351520"/>
            <a:ext cx="23116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>
                <a:solidFill>
                  <a:srgbClr val="C0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Dr. </a:t>
            </a:r>
            <a:r>
              <a:rPr lang="pt-BR" sz="1600" b="1" dirty="0" err="1">
                <a:solidFill>
                  <a:srgbClr val="C0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Geoésley</a:t>
            </a:r>
            <a:r>
              <a:rPr lang="pt-BR" sz="1600" b="1" dirty="0">
                <a:solidFill>
                  <a:srgbClr val="C0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Mendes</a:t>
            </a:r>
            <a:endParaRPr lang="pt-BR" sz="3200" b="1" dirty="0">
              <a:solidFill>
                <a:srgbClr val="C00000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62416E8-9FAF-A141-A95A-10E2D7DD3B8E}"/>
              </a:ext>
            </a:extLst>
          </p:cNvPr>
          <p:cNvSpPr txBox="1"/>
          <p:nvPr/>
        </p:nvSpPr>
        <p:spPr>
          <a:xfrm>
            <a:off x="2147646" y="3630956"/>
            <a:ext cx="932688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3200" b="1" i="0" dirty="0">
                <a:solidFill>
                  <a:srgbClr val="E8B84B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Avaliadores</a:t>
            </a:r>
            <a:endParaRPr sz="3200" b="1" i="0" dirty="0">
              <a:solidFill>
                <a:srgbClr val="E8B84B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4472</TotalTime>
  <Words>439</Words>
  <Application>Microsoft Macintosh PowerPoint</Application>
  <PresentationFormat>Personalizar</PresentationFormat>
  <Paragraphs>87</Paragraphs>
  <Slides>8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4" baseType="lpstr">
      <vt:lpstr>ADLaM Display</vt:lpstr>
      <vt:lpstr>Aptos</vt:lpstr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Raimundo Carvalho Moura Filho</cp:lastModifiedBy>
  <cp:revision>12</cp:revision>
  <dcterms:created xsi:type="dcterms:W3CDTF">2013-01-27T09:14:16Z</dcterms:created>
  <dcterms:modified xsi:type="dcterms:W3CDTF">2026-09-15T23:47:39Z</dcterms:modified>
  <cp:category/>
</cp:coreProperties>
</file>